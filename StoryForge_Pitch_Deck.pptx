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27</c:v>
                </c:pt>
                <c:pt idx="3">
                  <c:v>36</c:v>
                </c:pt>
                <c:pt idx="4">
                  <c:v>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3D3D4A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spPr>
            <a:solidFill>
              <a:srgbClr val="8B5CF6"/>
            </a:solidFill>
            <a:ln w="38100" cap="flat">
              <a:solidFill>
                <a:srgbClr val="8B5C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M1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  <c:pt idx="5">
                    <c:v>M18</c:v>
                  </c:pt>
                  <c:pt idx="6">
                    <c:v>M24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15</c:v>
                </c:pt>
                <c:pt idx="2">
                  <c:v>50</c:v>
                </c:pt>
                <c:pt idx="3">
                  <c:v>150</c:v>
                </c:pt>
                <c:pt idx="4">
                  <c:v>400</c:v>
                </c:pt>
                <c:pt idx="5">
                  <c:v>1200</c:v>
                </c:pt>
                <c:pt idx="6">
                  <c:v>3500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Paying Users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M1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  <c:pt idx="5">
                    <c:v>M18</c:v>
                  </c:pt>
                  <c:pt idx="6">
                    <c:v>M24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500</c:v>
                </c:pt>
                <c:pt idx="2">
                  <c:v>2000</c:v>
                </c:pt>
                <c:pt idx="3">
                  <c:v>5000</c:v>
                </c:pt>
                <c:pt idx="4">
                  <c:v>12000</c:v>
                </c:pt>
                <c:pt idx="5">
                  <c:v>35000</c:v>
                </c:pt>
                <c:pt idx="6">
                  <c:v>100000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D3D4A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CA3A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78404" y="1284089"/>
            <a:ext cx="13871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045666" y="1546920"/>
            <a:ext cx="50526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STORYFORGE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308379" y="2385120"/>
            <a:ext cx="25270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Suno of Filmmaking</a:t>
            </a:r>
            <a:endParaRPr lang="en-US" sz="1800" dirty="0"/>
          </a:p>
        </p:txBody>
      </p:sp>
      <p:pic>
        <p:nvPicPr>
          <p:cNvPr id="5" name="Image 0" descr="/tmp/rasterized-gradient-9c044a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440" y="3314700"/>
            <a:ext cx="2676971" cy="5447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17566" y="3467100"/>
            <a:ext cx="210871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Prompt to Premiere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378513" y="4754910"/>
            <a:ext cx="23868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Investment Opportunity •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$50B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464790"/>
            <a:ext cx="720890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Wants to Create Films. No One Can.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90500" y="1475631"/>
            <a:ext cx="4261991" cy="942826"/>
          </a:xfrm>
          <a:prstGeom prst="rect">
            <a:avLst/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09550" y="1475631"/>
            <a:ext cx="0" cy="94282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1000" y="1628031"/>
            <a:ext cx="399747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1000" y="2092821"/>
            <a:ext cx="39974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 want cinematic content but lack skills, budget, or tools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90500" y="2570857"/>
            <a:ext cx="4261991" cy="942826"/>
          </a:xfrm>
          <a:prstGeom prst="rect">
            <a:avLst/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09550" y="2570857"/>
            <a:ext cx="0" cy="942826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000" y="2723257"/>
            <a:ext cx="399747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1000" y="3188047"/>
            <a:ext cx="39974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cost to produce a single short film episode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90500" y="3666083"/>
            <a:ext cx="4261991" cy="942826"/>
          </a:xfrm>
          <a:prstGeom prst="rect">
            <a:avLst/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09550" y="3666083"/>
            <a:ext cx="0" cy="94282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1000" y="3818483"/>
            <a:ext cx="399747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81000" y="4283273"/>
            <a:ext cx="39974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exist for full cinematic series creation with continuity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681091" y="2072729"/>
            <a:ext cx="4272409" cy="1939082"/>
          </a:xfrm>
          <a:prstGeom prst="roundRect">
            <a:avLst>
              <a:gd name="adj" fmla="val 5895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71591" y="2263229"/>
            <a:ext cx="39692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Current Tools Fail: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71591" y="260598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62091" y="2564160"/>
            <a:ext cx="26373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clips, not stories — no narrative structure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71591" y="288027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62091" y="2838450"/>
            <a:ext cx="2177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character consistency across scenes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71591" y="315456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62091" y="3112740"/>
            <a:ext cx="22872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format templates (episodes, arcs, series)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71591" y="342885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62091" y="3387030"/>
            <a:ext cx="21642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scene-by-scene iterative direction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71591" y="370314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62091" y="3661321"/>
            <a:ext cx="2345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cinematic style transfer or genre expertise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464790"/>
            <a:ext cx="482860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$47B TAM Growing 42% CAGR</a:t>
            </a:r>
            <a:endParaRPr lang="en-US" sz="2550" dirty="0"/>
          </a:p>
        </p:txBody>
      </p:sp>
      <p:pic>
        <p:nvPicPr>
          <p:cNvPr id="4" name="Image 0" descr="/tmp/rasterized-gradient-9b33d7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75" y="1500485"/>
            <a:ext cx="3857625" cy="1154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48275" y="1652885"/>
            <a:ext cx="3623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5248275" y="1837581"/>
            <a:ext cx="362388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$47B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248275" y="2355652"/>
            <a:ext cx="3623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Video + Creator Tools by 2028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095875" y="2768947"/>
            <a:ext cx="1871663" cy="923776"/>
          </a:xfrm>
          <a:prstGeom prst="roundRect">
            <a:avLst>
              <a:gd name="adj" fmla="val 8249"/>
            </a:avLst>
          </a:prstGeom>
          <a:solidFill>
            <a:srgbClr val="1E1E28"/>
          </a:solidFill>
          <a:ln w="9525">
            <a:solidFill>
              <a:srgbClr val="3D3D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238750" y="2911822"/>
            <a:ext cx="1617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238750" y="3077468"/>
            <a:ext cx="16176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5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$8.2B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238750" y="3416498"/>
            <a:ext cx="1617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Prosumer creators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081838" y="2768947"/>
            <a:ext cx="1871663" cy="923776"/>
          </a:xfrm>
          <a:prstGeom prst="roundRect">
            <a:avLst>
              <a:gd name="adj" fmla="val 8249"/>
            </a:avLst>
          </a:prstGeom>
          <a:solidFill>
            <a:srgbClr val="1E1E28"/>
          </a:solidFill>
          <a:ln w="9525">
            <a:solidFill>
              <a:srgbClr val="3D3D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224713" y="2911822"/>
            <a:ext cx="1617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(Y3)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7224713" y="3077468"/>
            <a:ext cx="16176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50"/>
              </a:spcBef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$240M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224713" y="3416498"/>
            <a:ext cx="1617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 penetration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095875" y="3807023"/>
            <a:ext cx="3857625" cy="777032"/>
          </a:xfrm>
          <a:prstGeom prst="roundRect">
            <a:avLst>
              <a:gd name="adj" fmla="val 980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5110163" y="3807023"/>
            <a:ext cx="0" cy="777032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57800" y="3940373"/>
            <a:ext cx="36335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257800" y="4157514"/>
            <a:ext cx="363359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diffusion models hit inflection point in 2024. Sora, Runway Gen-3, Kling prove the tech works — but no one owns the workflow layer.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285750" y="4781550"/>
            <a:ext cx="35572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Grand View Research, Precedence Research, PitchBook AI Analysis 2024</a:t>
            </a:r>
            <a:endParaRPr lang="en-US" sz="7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190500" y="1708696"/>
          <a:ext cx="4714875" cy="2667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464790"/>
            <a:ext cx="690772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StoryForge: A Film Engine, Not a Video Tool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85750" y="1355824"/>
            <a:ext cx="2755850" cy="1683544"/>
          </a:xfrm>
          <a:prstGeom prst="roundRect">
            <a:avLst>
              <a:gd name="adj" fmla="val 6789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85750" y="1370112"/>
            <a:ext cx="2755850" cy="0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574899"/>
            <a:ext cx="222803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71500" y="2024360"/>
            <a:ext cx="22280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Brains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71500" y="2262485"/>
            <a:ext cx="2228037" cy="586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Genre-trained AI directors: "Spielberg Brain," "K-Drama Brain," "Pixar Brain" — each controls shot language, pacing, and narrative structure.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194000" y="1355824"/>
            <a:ext cx="2755850" cy="1683544"/>
          </a:xfrm>
          <a:prstGeom prst="roundRect">
            <a:avLst>
              <a:gd name="adj" fmla="val 6789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194000" y="1370112"/>
            <a:ext cx="2755850" cy="0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9750" y="1574899"/>
            <a:ext cx="222803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479750" y="2024360"/>
            <a:ext cx="22280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Templates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479750" y="2262485"/>
            <a:ext cx="2228037" cy="586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Netflix-deconstructed structures: 6-episode arcs, 90-min movie beats, pilot templates, tension curves, B-plots, and cliffhangers built-in.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102251" y="1429048"/>
            <a:ext cx="2755850" cy="1536948"/>
          </a:xfrm>
          <a:prstGeom prst="roundRect">
            <a:avLst>
              <a:gd name="adj" fmla="val 743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02251" y="1443335"/>
            <a:ext cx="2755850" cy="0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8001" y="1648123"/>
            <a:ext cx="222803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388001" y="2097584"/>
            <a:ext cx="22280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Direction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388001" y="2335709"/>
            <a:ext cx="2228037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Scene-by-scene collaboration: generate options, iterate on lighting/cast/pacing, lock, continue — with full continuity carry-over.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285750" y="3191768"/>
            <a:ext cx="2755850" cy="1536948"/>
          </a:xfrm>
          <a:prstGeom prst="roundRect">
            <a:avLst>
              <a:gd name="adj" fmla="val 743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85750" y="3206055"/>
            <a:ext cx="2755850" cy="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" y="3410843"/>
            <a:ext cx="222803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71500" y="3860304"/>
            <a:ext cx="22280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Locking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571500" y="4098429"/>
            <a:ext cx="2228037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characters across scenes: faces, hair, outfits, voice. Upload reference or choose from library. Same actor, every scene.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194000" y="3191768"/>
            <a:ext cx="2755850" cy="1536948"/>
          </a:xfrm>
          <a:prstGeom prst="roundRect">
            <a:avLst>
              <a:gd name="adj" fmla="val 743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194000" y="3206055"/>
            <a:ext cx="2755850" cy="0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9750" y="3410843"/>
            <a:ext cx="222803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3479750" y="3860304"/>
            <a:ext cx="22280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Mixing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3479750" y="4098429"/>
            <a:ext cx="2228037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"Back to the Future + Squid Game aesthetic." Blend genres, eras, and visual styles through constraint-based style transfer.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6102251" y="3191768"/>
            <a:ext cx="2755850" cy="1536948"/>
          </a:xfrm>
          <a:prstGeom prst="roundRect">
            <a:avLst>
              <a:gd name="adj" fmla="val 743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102251" y="3206055"/>
            <a:ext cx="2755850" cy="0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8001" y="3410843"/>
            <a:ext cx="222803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6388001" y="3860304"/>
            <a:ext cx="22280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Export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6388001" y="4098429"/>
            <a:ext cx="2228037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export to TikTok verticals, YouTube episodes, or cinematic 16:9. Optimized for every platform's specs.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464790"/>
            <a:ext cx="472173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Series in 4 Steps</a:t>
            </a:r>
            <a:endParaRPr lang="en-US" sz="2550" dirty="0"/>
          </a:p>
        </p:txBody>
      </p:sp>
      <p:pic>
        <p:nvPicPr>
          <p:cNvPr id="4" name="Image 0" descr="/tmp/rasterized-gradient-6c3790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912739"/>
            <a:ext cx="609600" cy="60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8735" y="2030909"/>
            <a:ext cx="15134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90500" y="2598539"/>
            <a:ext cx="1905000" cy="841772"/>
          </a:xfrm>
          <a:prstGeom prst="roundRect">
            <a:avLst>
              <a:gd name="adj" fmla="val 13578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6898" y="2750939"/>
            <a:ext cx="16322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Brain + Format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6898" y="2994720"/>
            <a:ext cx="163220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your cinematic style and episode structure template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2171700" y="2516535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D3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pic>
        <p:nvPicPr>
          <p:cNvPr id="10" name="Image 1" descr="/tmp/rasterized-gradient-4cc2eb6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912739"/>
            <a:ext cx="609600" cy="609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54735" y="2030909"/>
            <a:ext cx="15134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2476500" y="2598539"/>
            <a:ext cx="1905000" cy="841772"/>
          </a:xfrm>
          <a:prstGeom prst="roundRect">
            <a:avLst>
              <a:gd name="adj" fmla="val 13578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2612898" y="2750939"/>
            <a:ext cx="16322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Your Story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612898" y="2994720"/>
            <a:ext cx="163220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prompt generates full story blueprint with beats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4457700" y="2516535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D3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pic>
        <p:nvPicPr>
          <p:cNvPr id="16" name="Image 2" descr="/tmp/rasterized-gradient-0e7df6d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839367"/>
            <a:ext cx="609600" cy="609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40735" y="1957536"/>
            <a:ext cx="15134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4762500" y="2525167"/>
            <a:ext cx="1905000" cy="988368"/>
          </a:xfrm>
          <a:prstGeom prst="roundRect">
            <a:avLst>
              <a:gd name="adj" fmla="val 11565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898898" y="2677567"/>
            <a:ext cx="16322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Scene-by-Scene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898898" y="2921347"/>
            <a:ext cx="1632204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2-3 options per scene, refine lighting/cast/mood, lock and proceed</a:t>
            </a:r>
            <a:endParaRPr lang="en-US" sz="825" dirty="0"/>
          </a:p>
        </p:txBody>
      </p:sp>
      <p:sp>
        <p:nvSpPr>
          <p:cNvPr id="21" name="Text 16"/>
          <p:cNvSpPr/>
          <p:nvPr/>
        </p:nvSpPr>
        <p:spPr>
          <a:xfrm>
            <a:off x="6743700" y="2516535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D3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pic>
        <p:nvPicPr>
          <p:cNvPr id="22" name="Image 3" descr="/tmp/rasterized-gradient-3422557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1912739"/>
            <a:ext cx="609600" cy="609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26735" y="2030909"/>
            <a:ext cx="15134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7048500" y="2598539"/>
            <a:ext cx="1905000" cy="841772"/>
          </a:xfrm>
          <a:prstGeom prst="roundRect">
            <a:avLst>
              <a:gd name="adj" fmla="val 13578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7184898" y="2750939"/>
            <a:ext cx="16322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&amp; Publish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7184898" y="2994720"/>
            <a:ext cx="163220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export to TikTok, YouTube, or cinematic format</a:t>
            </a:r>
            <a:endParaRPr lang="en-US" sz="825" dirty="0"/>
          </a:p>
        </p:txBody>
      </p:sp>
      <p:sp>
        <p:nvSpPr>
          <p:cNvPr id="27" name="Text 21"/>
          <p:cNvSpPr/>
          <p:nvPr/>
        </p:nvSpPr>
        <p:spPr>
          <a:xfrm>
            <a:off x="285750" y="4564410"/>
            <a:ext cx="8572500" cy="388590"/>
          </a:xfrm>
          <a:prstGeom prst="roundRect">
            <a:avLst>
              <a:gd name="adj" fmla="val 19609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2"/>
          <p:cNvSpPr/>
          <p:nvPr/>
        </p:nvSpPr>
        <p:spPr>
          <a:xfrm>
            <a:off x="300038" y="4564410"/>
            <a:ext cx="0" cy="388590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00075" y="4678710"/>
            <a:ext cx="81318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Like Suno's "v2" iteration mode for music — but for cinema. Generate, refine, lock, continue with perfect continuity.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464790"/>
            <a:ext cx="63830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Makes Clips. We Make Stories.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85750" y="1307009"/>
            <a:ext cx="1333500" cy="337096"/>
          </a:xfrm>
          <a:prstGeom prst="roundRect">
            <a:avLst>
              <a:gd name="adj" fmla="val 22605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402259"/>
            <a:ext cx="11658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1695450" y="1307009"/>
            <a:ext cx="1733550" cy="337096"/>
          </a:xfrm>
          <a:prstGeom prst="roundRect">
            <a:avLst>
              <a:gd name="adj" fmla="val 22605"/>
            </a:avLst>
          </a:prstGeom>
          <a:solidFill>
            <a:srgbClr val="2D2D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75270" y="1402259"/>
            <a:ext cx="15739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505200" y="1307009"/>
            <a:ext cx="1733550" cy="337096"/>
          </a:xfrm>
          <a:prstGeom prst="roundRect">
            <a:avLst>
              <a:gd name="adj" fmla="val 22605"/>
            </a:avLst>
          </a:prstGeom>
          <a:solidFill>
            <a:srgbClr val="2D2D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85020" y="1402259"/>
            <a:ext cx="15739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Sora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314950" y="1307009"/>
            <a:ext cx="1733550" cy="337096"/>
          </a:xfrm>
          <a:prstGeom prst="roundRect">
            <a:avLst>
              <a:gd name="adj" fmla="val 22605"/>
            </a:avLst>
          </a:prstGeom>
          <a:solidFill>
            <a:srgbClr val="2D2D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94770" y="1402259"/>
            <a:ext cx="15739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Pika</a:t>
            </a:r>
            <a:endParaRPr lang="en-US" sz="825" dirty="0"/>
          </a:p>
        </p:txBody>
      </p:sp>
      <p:pic>
        <p:nvPicPr>
          <p:cNvPr id="12" name="Image 0" descr="/tmp/rasterized-gradient-39ca21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4700" y="1307009"/>
            <a:ext cx="1733550" cy="3370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204520" y="1402259"/>
            <a:ext cx="15739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StoryForge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285750" y="1746945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81000" y="1823145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Generation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695450" y="1720304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755839" y="1796504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05200" y="1720304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565589" y="1796504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314950" y="1720304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375338" y="1796504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124700" y="1720304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185089" y="1796504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85750" y="2162175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81000" y="2238375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Consistency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695450" y="2162175"/>
            <a:ext cx="1733550" cy="285750"/>
          </a:xfrm>
          <a:prstGeom prst="roundRect">
            <a:avLst>
              <a:gd name="adj" fmla="val 20000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755839" y="2238375"/>
            <a:ext cx="1612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3505200" y="2162175"/>
            <a:ext cx="1733550" cy="285750"/>
          </a:xfrm>
          <a:prstGeom prst="roundRect">
            <a:avLst>
              <a:gd name="adj" fmla="val 20000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565589" y="2238375"/>
            <a:ext cx="1612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314950" y="2135535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375338" y="2211735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124700" y="2135535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7185089" y="2211735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285750" y="2577405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381000" y="2653605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Structure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1695450" y="2550765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1755839" y="2626965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3505200" y="2550765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3565589" y="2626965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314950" y="2550765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375338" y="2626965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7124700" y="2550765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7185089" y="2626965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285750" y="2992636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381000" y="3068836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Episode/Series Support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1695450" y="2965996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1755839" y="3042196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3505200" y="2965996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3565589" y="3042196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5314950" y="2965996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375338" y="3042196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7124700" y="2965996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7185089" y="3042196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285750" y="3407866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381000" y="3484066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Style/Genre Brains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1695450" y="3381226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1755839" y="3457426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3505200" y="3381226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3565589" y="3457426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5314950" y="3381226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5375338" y="3457426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62" name="Text 59"/>
          <p:cNvSpPr/>
          <p:nvPr/>
        </p:nvSpPr>
        <p:spPr>
          <a:xfrm>
            <a:off x="7124700" y="3381226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7185089" y="3457426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64" name="Text 61"/>
          <p:cNvSpPr/>
          <p:nvPr/>
        </p:nvSpPr>
        <p:spPr>
          <a:xfrm>
            <a:off x="285750" y="3823097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381000" y="3899297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Direction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1695450" y="3823097"/>
            <a:ext cx="1733550" cy="285750"/>
          </a:xfrm>
          <a:prstGeom prst="roundRect">
            <a:avLst>
              <a:gd name="adj" fmla="val 20000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1755839" y="3899297"/>
            <a:ext cx="1612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750" dirty="0"/>
          </a:p>
        </p:txBody>
      </p:sp>
      <p:sp>
        <p:nvSpPr>
          <p:cNvPr id="68" name="Text 65"/>
          <p:cNvSpPr/>
          <p:nvPr/>
        </p:nvSpPr>
        <p:spPr>
          <a:xfrm>
            <a:off x="3505200" y="3823097"/>
            <a:ext cx="1733550" cy="285750"/>
          </a:xfrm>
          <a:prstGeom prst="roundRect">
            <a:avLst>
              <a:gd name="adj" fmla="val 20000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6"/>
          <p:cNvSpPr/>
          <p:nvPr/>
        </p:nvSpPr>
        <p:spPr>
          <a:xfrm>
            <a:off x="3565589" y="3899297"/>
            <a:ext cx="1612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750" dirty="0"/>
          </a:p>
        </p:txBody>
      </p:sp>
      <p:sp>
        <p:nvSpPr>
          <p:cNvPr id="70" name="Text 67"/>
          <p:cNvSpPr/>
          <p:nvPr/>
        </p:nvSpPr>
        <p:spPr>
          <a:xfrm>
            <a:off x="5314950" y="3823097"/>
            <a:ext cx="1733550" cy="285750"/>
          </a:xfrm>
          <a:prstGeom prst="roundRect">
            <a:avLst>
              <a:gd name="adj" fmla="val 20000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8"/>
          <p:cNvSpPr/>
          <p:nvPr/>
        </p:nvSpPr>
        <p:spPr>
          <a:xfrm>
            <a:off x="5375338" y="3899297"/>
            <a:ext cx="1612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7124700" y="3796457"/>
            <a:ext cx="1733550" cy="339030"/>
          </a:xfrm>
          <a:prstGeom prst="roundRect">
            <a:avLst>
              <a:gd name="adj" fmla="val 16857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0"/>
          <p:cNvSpPr/>
          <p:nvPr/>
        </p:nvSpPr>
        <p:spPr>
          <a:xfrm>
            <a:off x="7185089" y="3872657"/>
            <a:ext cx="16127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74" name="Text 71"/>
          <p:cNvSpPr/>
          <p:nvPr/>
        </p:nvSpPr>
        <p:spPr>
          <a:xfrm>
            <a:off x="285750" y="4654004"/>
            <a:ext cx="8572500" cy="337096"/>
          </a:xfrm>
          <a:prstGeom prst="roundRect">
            <a:avLst>
              <a:gd name="adj" fmla="val 22605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2"/>
          <p:cNvSpPr/>
          <p:nvPr/>
        </p:nvSpPr>
        <p:spPr>
          <a:xfrm>
            <a:off x="438150" y="4749254"/>
            <a:ext cx="8433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Moat: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Workflow layer + format intelligence + continuity engine. Competitors sell inference; we sell creative direction.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464790"/>
            <a:ext cx="461486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+ Credits + Marketplace</a:t>
            </a:r>
            <a:endParaRPr lang="en-US" sz="2550" dirty="0"/>
          </a:p>
        </p:txBody>
      </p:sp>
      <p:pic>
        <p:nvPicPr>
          <p:cNvPr id="4" name="Image 0" descr="/tmp/rasterized-gradient-2ee082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981349"/>
            <a:ext cx="1606600" cy="11866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7675" y="2143274"/>
            <a:ext cx="13084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447675" y="2327970"/>
            <a:ext cx="130840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</a:t>
            </a:r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47675" y="2739330"/>
            <a:ext cx="13084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scenes/mo, 3 brains, basic formats</a:t>
            </a:r>
            <a:endParaRPr lang="en-US" sz="750" dirty="0"/>
          </a:p>
        </p:txBody>
      </p:sp>
      <p:pic>
        <p:nvPicPr>
          <p:cNvPr id="8" name="Image 1" descr="/tmp/rasterized-gradient-bc3913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50" y="1990874"/>
            <a:ext cx="1587550" cy="11675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59050" y="2143274"/>
            <a:ext cx="13084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25" dirty="0"/>
          </a:p>
        </p:txBody>
      </p:sp>
      <p:sp>
        <p:nvSpPr>
          <p:cNvPr id="10" name="Text 6"/>
          <p:cNvSpPr/>
          <p:nvPr/>
        </p:nvSpPr>
        <p:spPr>
          <a:xfrm>
            <a:off x="2159050" y="2327970"/>
            <a:ext cx="130840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</a:t>
            </a:r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2159050" y="2739330"/>
            <a:ext cx="13084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scenes/mo, all brains, all formats</a:t>
            </a:r>
            <a:endParaRPr lang="en-US" sz="750" dirty="0"/>
          </a:p>
        </p:txBody>
      </p:sp>
      <p:pic>
        <p:nvPicPr>
          <p:cNvPr id="12" name="Image 2" descr="/tmp/rasterized-gradient-41b6f38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499" y="1981349"/>
            <a:ext cx="1606600" cy="118660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70424" y="2143274"/>
            <a:ext cx="13084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825" dirty="0"/>
          </a:p>
        </p:txBody>
      </p:sp>
      <p:sp>
        <p:nvSpPr>
          <p:cNvPr id="14" name="Text 9"/>
          <p:cNvSpPr/>
          <p:nvPr/>
        </p:nvSpPr>
        <p:spPr>
          <a:xfrm>
            <a:off x="3870424" y="2327970"/>
            <a:ext cx="130840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$199</a:t>
            </a:r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3870424" y="2739330"/>
            <a:ext cx="13084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Unlimited, custom brains, API access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285750" y="3282255"/>
            <a:ext cx="5029200" cy="820936"/>
          </a:xfrm>
          <a:prstGeom prst="roundRect">
            <a:avLst>
              <a:gd name="adj" fmla="val 13923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438150" y="3434655"/>
            <a:ext cx="48188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Mix (Target Year 3)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438150" y="3769816"/>
            <a:ext cx="2514600" cy="133350"/>
          </a:xfrm>
          <a:prstGeom prst="roundRect">
            <a:avLst>
              <a:gd name="adj" fmla="val 28571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1269355" y="3769816"/>
            <a:ext cx="869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 55%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3028950" y="3769816"/>
            <a:ext cx="1143000" cy="133350"/>
          </a:xfrm>
          <a:prstGeom prst="roundRect">
            <a:avLst>
              <a:gd name="adj" fmla="val 28571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3327797" y="3769816"/>
            <a:ext cx="5562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25%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4248150" y="3769816"/>
            <a:ext cx="914251" cy="13335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321373" y="3769816"/>
            <a:ext cx="783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20%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5505450" y="1358652"/>
            <a:ext cx="3352800" cy="834182"/>
          </a:xfrm>
          <a:prstGeom prst="roundRect">
            <a:avLst>
              <a:gd name="adj" fmla="val 13702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0"/>
          <p:cNvSpPr/>
          <p:nvPr/>
        </p:nvSpPr>
        <p:spPr>
          <a:xfrm>
            <a:off x="5519738" y="1358652"/>
            <a:ext cx="0" cy="834182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686425" y="1511052"/>
            <a:ext cx="3079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Packs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686425" y="1747242"/>
            <a:ext cx="307981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Overage scenes, premium renders, 4K exports. $0.50–$2.00 per scene depending on complexity.</a:t>
            </a:r>
            <a:endParaRPr lang="en-US" sz="825" dirty="0"/>
          </a:p>
        </p:txBody>
      </p:sp>
      <p:sp>
        <p:nvSpPr>
          <p:cNvPr id="28" name="Text 23"/>
          <p:cNvSpPr/>
          <p:nvPr/>
        </p:nvSpPr>
        <p:spPr>
          <a:xfrm>
            <a:off x="5505450" y="2307134"/>
            <a:ext cx="3352800" cy="834182"/>
          </a:xfrm>
          <a:prstGeom prst="roundRect">
            <a:avLst>
              <a:gd name="adj" fmla="val 13702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4"/>
          <p:cNvSpPr/>
          <p:nvPr/>
        </p:nvSpPr>
        <p:spPr>
          <a:xfrm>
            <a:off x="5519738" y="2307134"/>
            <a:ext cx="0" cy="834182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686425" y="2459534"/>
            <a:ext cx="3079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(15% Take Rate)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5686425" y="2695724"/>
            <a:ext cx="307981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brains, format templates, character packs, sound libraries. Creator monetization flywheel.</a:t>
            </a:r>
            <a:endParaRPr lang="en-US" sz="825" dirty="0"/>
          </a:p>
        </p:txBody>
      </p:sp>
      <p:sp>
        <p:nvSpPr>
          <p:cNvPr id="32" name="Text 27"/>
          <p:cNvSpPr/>
          <p:nvPr/>
        </p:nvSpPr>
        <p:spPr>
          <a:xfrm>
            <a:off x="5505450" y="3255615"/>
            <a:ext cx="3352800" cy="834182"/>
          </a:xfrm>
          <a:prstGeom prst="roundRect">
            <a:avLst>
              <a:gd name="adj" fmla="val 13702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28"/>
          <p:cNvSpPr/>
          <p:nvPr/>
        </p:nvSpPr>
        <p:spPr>
          <a:xfrm>
            <a:off x="5519738" y="3255615"/>
            <a:ext cx="0" cy="83418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686425" y="3408015"/>
            <a:ext cx="3079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(Future)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5686425" y="3644205"/>
            <a:ext cx="307981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storytelling, marketing agencies, educational content. Custom SLAs, dedicated inference.</a:t>
            </a:r>
            <a:endParaRPr lang="en-US" sz="825" dirty="0"/>
          </a:p>
        </p:txBody>
      </p:sp>
      <p:sp>
        <p:nvSpPr>
          <p:cNvPr id="36" name="Text 31"/>
          <p:cNvSpPr/>
          <p:nvPr/>
        </p:nvSpPr>
        <p:spPr>
          <a:xfrm>
            <a:off x="5505450" y="4204097"/>
            <a:ext cx="3352800" cy="521791"/>
          </a:xfrm>
          <a:prstGeom prst="roundRect">
            <a:avLst>
              <a:gd name="adj" fmla="val 14604"/>
            </a:avLst>
          </a:prstGeom>
          <a:solidFill>
            <a:srgbClr val="2D2D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5619750" y="4318397"/>
            <a:ext cx="318668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Target 70% gross margin at scale via inference optimization + caching.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464790"/>
            <a:ext cx="575157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Sprint to Product-Market Fit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85750" y="1547217"/>
            <a:ext cx="299237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Signals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85750" y="1834753"/>
            <a:ext cx="2933700" cy="824657"/>
          </a:xfrm>
          <a:prstGeom prst="roundRect">
            <a:avLst>
              <a:gd name="adj" fmla="val 11550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9100" y="1968103"/>
            <a:ext cx="27203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19100" y="2379464"/>
            <a:ext cx="27203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 signups (2 weeks, organic)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85750" y="2773710"/>
            <a:ext cx="2933700" cy="824657"/>
          </a:xfrm>
          <a:prstGeom prst="roundRect">
            <a:avLst>
              <a:gd name="adj" fmla="val 11550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9100" y="2907060"/>
            <a:ext cx="27203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19100" y="3318421"/>
            <a:ext cx="27203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open rate (4x industry avg)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85750" y="3712666"/>
            <a:ext cx="2933700" cy="824657"/>
          </a:xfrm>
          <a:prstGeom prst="roundRect">
            <a:avLst>
              <a:gd name="adj" fmla="val 11550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9100" y="3846016"/>
            <a:ext cx="27203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19100" y="4257377"/>
            <a:ext cx="27203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partnerships (500K+ combined)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409950" y="1709738"/>
            <a:ext cx="55572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975" dirty="0"/>
          </a:p>
        </p:txBody>
      </p:sp>
      <p:pic>
        <p:nvPicPr>
          <p:cNvPr id="15" name="Image 0" descr="/tmp/rasterized-gradient-c74a28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9950" y="2006798"/>
            <a:ext cx="1752600" cy="8648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524250" y="2121098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M1-M2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524250" y="2292548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524250" y="2490639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builder, 3 brains, basic character lock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238750" y="1997273"/>
            <a:ext cx="1771650" cy="883890"/>
          </a:xfrm>
          <a:prstGeom prst="roundRect">
            <a:avLst>
              <a:gd name="adj" fmla="val 10776"/>
            </a:avLst>
          </a:prstGeom>
          <a:solidFill>
            <a:srgbClr val="1E1E28"/>
          </a:solidFill>
          <a:ln w="9525">
            <a:solidFill>
              <a:srgbClr val="3D3D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362575" y="2121098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M3-M4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362575" y="2292548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Library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362575" y="2490639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templates, style mixing, continuity v2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7086600" y="1997273"/>
            <a:ext cx="1771650" cy="883890"/>
          </a:xfrm>
          <a:prstGeom prst="roundRect">
            <a:avLst>
              <a:gd name="adj" fmla="val 10776"/>
            </a:avLst>
          </a:prstGeom>
          <a:solidFill>
            <a:srgbClr val="1E1E28"/>
          </a:solidFill>
          <a:ln w="9525">
            <a:solidFill>
              <a:srgbClr val="3D3D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210425" y="2121098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M5-M6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210425" y="2292548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Launch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210425" y="2490639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beta, marketplace, mobile app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409950" y="2995464"/>
            <a:ext cx="5448300" cy="845790"/>
          </a:xfrm>
          <a:prstGeom prst="roundRect">
            <a:avLst>
              <a:gd name="adj" fmla="val 11262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543300" y="3128814"/>
            <a:ext cx="52852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543300" y="3422154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676650" y="3384054"/>
            <a:ext cx="13501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M2: Private alpha, 100 creators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3543300" y="3612654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676650" y="3574554"/>
            <a:ext cx="12692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M4: Closed beta, 1,000 users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6210300" y="3422154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343650" y="3384054"/>
            <a:ext cx="12314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M5: Public beta, 5,000 users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210300" y="3612654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343650" y="3574554"/>
            <a:ext cx="14418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M6: GA launch, $50K MRR target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409950" y="3917454"/>
            <a:ext cx="5448300" cy="457200"/>
          </a:xfrm>
          <a:prstGeom prst="roundRect">
            <a:avLst>
              <a:gd name="adj" fmla="val 16667"/>
            </a:avLst>
          </a:prstGeom>
          <a:solidFill>
            <a:srgbClr val="2D2D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543300" y="4012704"/>
            <a:ext cx="52852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Model-agnostic architecture. Currently Runway + Stability APIs; ready for Sora/Kling integration. Own the workflow, rent the inference.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464790"/>
            <a:ext cx="49451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$10M ARR in 24 Months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086350" y="1246882"/>
            <a:ext cx="1838325" cy="720030"/>
          </a:xfrm>
          <a:prstGeom prst="roundRect">
            <a:avLst>
              <a:gd name="adj" fmla="val 13229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84553" y="1361182"/>
            <a:ext cx="1641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ARR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184553" y="1532632"/>
            <a:ext cx="164192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19925" y="1246882"/>
            <a:ext cx="1838325" cy="720030"/>
          </a:xfrm>
          <a:prstGeom prst="roundRect">
            <a:avLst>
              <a:gd name="adj" fmla="val 13229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18128" y="1361182"/>
            <a:ext cx="1641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ARR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18128" y="1532632"/>
            <a:ext cx="164192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86350" y="2062163"/>
            <a:ext cx="3771900" cy="1226790"/>
          </a:xfrm>
          <a:prstGeom prst="roundRect">
            <a:avLst>
              <a:gd name="adj" fmla="val 7764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19700" y="2195513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9700" y="2450753"/>
            <a:ext cx="991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Revenue Per User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396585" y="2450753"/>
            <a:ext cx="3348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$35/mo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219700" y="2641253"/>
            <a:ext cx="10583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Free-to-Paid Conversion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587234" y="2641253"/>
            <a:ext cx="140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219700" y="2831753"/>
            <a:ext cx="631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Churn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507760" y="2831753"/>
            <a:ext cx="2214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19700" y="3022253"/>
            <a:ext cx="1009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(at scale)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534251" y="3022253"/>
            <a:ext cx="194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086350" y="3384203"/>
            <a:ext cx="3771900" cy="900857"/>
          </a:xfrm>
          <a:prstGeom prst="roundRect">
            <a:avLst>
              <a:gd name="adj" fmla="val 10573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19700" y="3517553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Growth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08524" y="3772793"/>
            <a:ext cx="113990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08524" y="4031754"/>
            <a:ext cx="113990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6402275" y="3772793"/>
            <a:ext cx="113990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25K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2275" y="4031754"/>
            <a:ext cx="113990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7596025" y="3772793"/>
            <a:ext cx="113990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596025" y="4031754"/>
            <a:ext cx="113990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M24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5086350" y="4380309"/>
            <a:ext cx="3771900" cy="457200"/>
          </a:xfrm>
          <a:prstGeom prst="roundRect">
            <a:avLst>
              <a:gd name="adj" fmla="val 16667"/>
            </a:avLst>
          </a:prstGeom>
          <a:solidFill>
            <a:srgbClr val="2D2D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00650" y="4475559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Suno reached $1M MRR in 6 months with similar freemium + credits model.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85750" y="4781550"/>
            <a:ext cx="3764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 based on comparable SaaS benchmarks and creator economy growth rates</a:t>
            </a:r>
            <a:endParaRPr lang="en-US" sz="75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285750" y="1613446"/>
          <a:ext cx="4610100" cy="2857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464790"/>
            <a:ext cx="66842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Creators, Engineers &amp; Storytellers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85750" y="1546920"/>
            <a:ext cx="2000250" cy="2125861"/>
          </a:xfrm>
          <a:prstGeom prst="roundRect">
            <a:avLst>
              <a:gd name="adj" fmla="val 7619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rasterized-gradient-ce0985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875" y="1775520"/>
            <a:ext cx="762000" cy="76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5673" y="1943100"/>
            <a:ext cx="388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89891" y="2651820"/>
            <a:ext cx="119181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[Founder Name]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9891" y="2903190"/>
            <a:ext cx="119181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&amp; Co-Founder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21196" y="3177480"/>
            <a:ext cx="17293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Ex-[Company]. Built [Product] to 10M users. Stanford CS.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476500" y="1546920"/>
            <a:ext cx="2000250" cy="2125861"/>
          </a:xfrm>
          <a:prstGeom prst="roundRect">
            <a:avLst>
              <a:gd name="adj" fmla="val 7619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tmp/rasterized-gradient-87f3b8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5" y="1775520"/>
            <a:ext cx="762000" cy="762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86423" y="1943100"/>
            <a:ext cx="388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2751152" y="2651820"/>
            <a:ext cx="14507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[Co-Founder Name]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51152" y="2903190"/>
            <a:ext cx="14507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&amp; Co-Founder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611946" y="3177480"/>
            <a:ext cx="17293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Ex-[AI Lab]. Led video generation at [Company]. PhD ML.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4667250" y="1546920"/>
            <a:ext cx="2000250" cy="2125861"/>
          </a:xfrm>
          <a:prstGeom prst="roundRect">
            <a:avLst>
              <a:gd name="adj" fmla="val 7619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2" descr="/tmp/rasterized-gradient-237e9f9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75" y="1775520"/>
            <a:ext cx="762000" cy="762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77173" y="1943100"/>
            <a:ext cx="388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4941902" y="2651820"/>
            <a:ext cx="14507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[Co-Founder Name]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941902" y="2903190"/>
            <a:ext cx="14507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 &amp; Co-Founder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802696" y="3177480"/>
            <a:ext cx="17293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Ex-Netflix. 8 years in streaming product. USC Film School.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6858000" y="1546920"/>
            <a:ext cx="2000250" cy="2125861"/>
          </a:xfrm>
          <a:prstGeom prst="roundRect">
            <a:avLst>
              <a:gd name="adj" fmla="val 7619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3" descr="/tmp/rasterized-gradient-9ea337b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125" y="1775520"/>
            <a:ext cx="762000" cy="7620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67923" y="1943100"/>
            <a:ext cx="388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7283696" y="2651820"/>
            <a:ext cx="11488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[Advisor Name]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283696" y="2903190"/>
            <a:ext cx="11488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993446" y="3177480"/>
            <a:ext cx="17293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of [Unicorn]. Angel in 20+ AI startups.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285750" y="4431209"/>
            <a:ext cx="8572500" cy="521791"/>
          </a:xfrm>
          <a:prstGeom prst="roundRect">
            <a:avLst>
              <a:gd name="adj" fmla="val 14604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571500" y="4545509"/>
            <a:ext cx="816102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Rare combination of AI/ML expertise, streaming product experience, and deep creator community connections. We've shipped at scale and understand both the tech and the audience.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464790"/>
            <a:ext cx="55281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Challenges &amp; Our Playbook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85750" y="1189881"/>
            <a:ext cx="4210050" cy="1474291"/>
          </a:xfrm>
          <a:prstGeom prst="roundRect">
            <a:avLst>
              <a:gd name="adj" fmla="val 7753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1189881"/>
            <a:ext cx="0" cy="1474291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6250" y="1342281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0277" y="1382316"/>
            <a:ext cx="13225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Cost Explosion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6250" y="1685181"/>
            <a:ext cx="394449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inference is expensive. At scale, GPU costs could erode margins before optimization.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76250" y="2073622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6250" y="2245072"/>
            <a:ext cx="3944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caching (reuse scenes, characters). Dynamic pricing tiers. Scheduled batch rendering for non-urgent jobs. Model-agnostic architecture to leverage cost improvements.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48200" y="1263104"/>
            <a:ext cx="4210050" cy="1327696"/>
          </a:xfrm>
          <a:prstGeom prst="roundRect">
            <a:avLst>
              <a:gd name="adj" fmla="val 8609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67250" y="1263104"/>
            <a:ext cx="0" cy="132769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8700" y="1415504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52727" y="1455539"/>
            <a:ext cx="11690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Style/IP Copyright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38700" y="1758404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"brains" mimicking directors or studios could face legal challenges.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838700" y="200025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38700" y="2171700"/>
            <a:ext cx="3944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Legal-first approach: "inspired by" not "replica of." Style mixing dilutes single-source attribution. Building original brains trained on licensed/public domain content.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85750" y="2778472"/>
            <a:ext cx="4210050" cy="1474291"/>
          </a:xfrm>
          <a:prstGeom prst="roundRect">
            <a:avLst>
              <a:gd name="adj" fmla="val 7753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04800" y="2778472"/>
            <a:ext cx="0" cy="147429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250" y="2930872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0277" y="2970907"/>
            <a:ext cx="17156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Gap vs. Hollywood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6250" y="3273772"/>
            <a:ext cx="394449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AI video isn't feature-film quality. User expectations may exceed capabilities.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76250" y="3662214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6250" y="3833664"/>
            <a:ext cx="3944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for short-form first (30-90 sec episodes). Educate users on "AI-native" aesthetic. Expand to long-form as tech improves. Focus on storytelling over raw fidelity.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48200" y="2851696"/>
            <a:ext cx="4210050" cy="1327696"/>
          </a:xfrm>
          <a:prstGeom prst="roundRect">
            <a:avLst>
              <a:gd name="adj" fmla="val 8609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67250" y="2851696"/>
            <a:ext cx="0" cy="132769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38700" y="3004096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🏃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52727" y="3044130"/>
            <a:ext cx="13953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Tech Competition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38700" y="3346996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OpenAI, Google, Meta could build competing products with unlimited resources.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838700" y="3588841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38700" y="3760291"/>
            <a:ext cx="3944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build models, we build workflows. Own the storytelling layer. Creator network effects. Move fast on niche (serialized content) before they notice.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85750" y="4654004"/>
            <a:ext cx="8572500" cy="337096"/>
          </a:xfrm>
          <a:prstGeom prst="roundRect">
            <a:avLst>
              <a:gd name="adj" fmla="val 22605"/>
            </a:avLst>
          </a:prstGeom>
          <a:solidFill>
            <a:srgbClr val="2D2D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38150" y="4749254"/>
            <a:ext cx="8433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Edge: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We're building a creative tool, not a research lab. Execution speed and product intuition beat raw capability in consumer markets.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464790"/>
            <a:ext cx="66842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$4M Seed to Build the Film Engine</a:t>
            </a:r>
            <a:endParaRPr lang="en-US" sz="2550" dirty="0"/>
          </a:p>
        </p:txBody>
      </p:sp>
      <p:pic>
        <p:nvPicPr>
          <p:cNvPr id="4" name="Image 0" descr="/tmp/rasterized-gradient-99c1534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388864"/>
            <a:ext cx="4171950" cy="15466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4350" y="1617464"/>
            <a:ext cx="37890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14350" y="1842195"/>
            <a:ext cx="378904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$4M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14350" y="2520255"/>
            <a:ext cx="37890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85750" y="3087886"/>
            <a:ext cx="4171950" cy="1607641"/>
          </a:xfrm>
          <a:prstGeom prst="roundRect">
            <a:avLst>
              <a:gd name="adj" fmla="val 7110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71500" y="3278386"/>
            <a:ext cx="36724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1500" y="360208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00100" y="3579316"/>
            <a:ext cx="29985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(60%)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54202" y="3579316"/>
            <a:ext cx="3241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$2.4M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1500" y="385732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00100" y="3834557"/>
            <a:ext cx="29855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GPU/Infrastructure (20%)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841403" y="3834557"/>
            <a:ext cx="337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1500" y="411256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800100" y="4089797"/>
            <a:ext cx="29855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and Community (15%)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841403" y="4089797"/>
            <a:ext cx="337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$600K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1500" y="436780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800100" y="4345037"/>
            <a:ext cx="29855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(5%)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841403" y="4345037"/>
            <a:ext cx="337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$200K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686300" y="1575495"/>
            <a:ext cx="4171950" cy="1824930"/>
          </a:xfrm>
          <a:prstGeom prst="roundRect">
            <a:avLst>
              <a:gd name="adj" fmla="val 6263"/>
            </a:avLst>
          </a:prstGeom>
          <a:solidFill>
            <a:srgbClr val="1E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972050" y="1765995"/>
            <a:ext cx="36724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Achieve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972050" y="20669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054501" y="2101155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295900" y="2101155"/>
            <a:ext cx="21126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product with 10+ brains, 20+ formats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972050" y="23717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054501" y="2405955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295900" y="2405955"/>
            <a:ext cx="16299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25K+ paying users, $1.2M ARR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972050" y="26765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054501" y="2710755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295900" y="2710755"/>
            <a:ext cx="21708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live with creator monetization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972050" y="29813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054501" y="3015555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295900" y="3015555"/>
            <a:ext cx="19766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ready with path to $10M ARR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686300" y="3552825"/>
            <a:ext cx="4171950" cy="956072"/>
          </a:xfrm>
          <a:prstGeom prst="roundRect">
            <a:avLst>
              <a:gd name="adj" fmla="val 11955"/>
            </a:avLst>
          </a:prstGeom>
          <a:solidFill>
            <a:srgbClr val="1E1E28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981575" y="3752850"/>
            <a:ext cx="36530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 Add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981575" y="4015680"/>
            <a:ext cx="36530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for investors with expertise in: creator economy, enterprise SaaS, AI/ML infrastructure, media and entertainment, or marketplace businesses.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285750" y="4768304"/>
            <a:ext cx="15402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founders@storyforge.ai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85484" y="962025"/>
            <a:ext cx="397303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STORYFORGE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027450" y="1647825"/>
            <a:ext cx="50891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has a story. Now everyone can show it.</a:t>
            </a:r>
            <a:endParaRPr lang="en-US" sz="1800" dirty="0"/>
          </a:p>
        </p:txBody>
      </p:sp>
      <p:pic>
        <p:nvPicPr>
          <p:cNvPr id="4" name="Image 0" descr="/tmp/rasterized-gradient-6b362a5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680" y="2577405"/>
            <a:ext cx="3982492" cy="647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29475" y="2767905"/>
            <a:ext cx="32849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future of filmmaking.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863984" y="3758505"/>
            <a:ext cx="1415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founders@storyforge.ai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251088" y="4021336"/>
            <a:ext cx="6415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storyforge.ai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StoryForge - Investor Pitch Deck</dc:title>
  <dc:subject>Series A Investment Opportunity</dc:subject>
  <dc:creator>StoryForge</dc:creator>
  <cp:lastModifiedBy>StoryForge</cp:lastModifiedBy>
  <cp:revision>1</cp:revision>
  <dcterms:created xsi:type="dcterms:W3CDTF">2025-12-10T13:53:52Z</dcterms:created>
  <dcterms:modified xsi:type="dcterms:W3CDTF">2025-12-10T13:53:52Z</dcterms:modified>
</cp:coreProperties>
</file>